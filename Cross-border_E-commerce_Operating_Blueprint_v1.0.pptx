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Cross-border E-commerce Operating Blueprint (Draft v1.0)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15568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Purpose: Practical operating model for current business.</a:t>
            </a:r>
          </a:p>
          <a:p>
            <a:pPr>
              <a:defRPr sz="1800"/>
            </a:pPr>
            <a:r>
              <a:t>Principle: China = Operations | Australia = Legal Entity + Warehouse + Finance + Compliance.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Overall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15568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China Operation Hub</a:t>
            </a:r>
          </a:p>
          <a:p>
            <a:pPr>
              <a:defRPr sz="1800"/>
            </a:pPr>
            <a:r>
              <a:t>- Training</a:t>
            </a:r>
          </a:p>
          <a:p>
            <a:pPr>
              <a:defRPr sz="1800"/>
            </a:pPr>
            <a:r>
              <a:t>- Marketplace Operations (TEMU, eBay, Big W)</a:t>
            </a:r>
          </a:p>
          <a:p>
            <a:pPr>
              <a:defRPr sz="1800"/>
            </a:pPr>
            <a:r>
              <a:t>- Customer Service</a:t>
            </a:r>
          </a:p>
          <a:p>
            <a:pPr>
              <a:defRPr sz="1800"/>
            </a:pPr>
            <a:r>
              <a:t>- Marketing &amp; Listing</a:t>
            </a:r>
          </a:p>
          <a:p>
            <a:pPr>
              <a:defRPr sz="1800"/>
            </a:pPr>
            <a:r>
              <a:t>- Future Supply Chain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Australia Pty Ltd</a:t>
            </a:r>
          </a:p>
          <a:p>
            <a:pPr>
              <a:defRPr sz="1800"/>
            </a:pPr>
            <a:r>
              <a:t>- Marketplace Seller (legal seller)</a:t>
            </a:r>
          </a:p>
          <a:p>
            <a:pPr>
              <a:defRPr sz="1800"/>
            </a:pPr>
            <a:r>
              <a:t>- Finance &amp; GST</a:t>
            </a:r>
          </a:p>
          <a:p>
            <a:pPr>
              <a:defRPr sz="1800"/>
            </a:pPr>
            <a:r>
              <a:t>- Compliance &amp; Brand</a:t>
            </a:r>
          </a:p>
          <a:p>
            <a:pPr>
              <a:defRPr sz="1800"/>
            </a:pPr>
            <a:r>
              <a:t>- Warehouse &amp; Logistics</a:t>
            </a:r>
          </a:p>
          <a:p>
            <a:pPr>
              <a:defRPr sz="1800"/>
            </a:pPr>
            <a:r>
              <a:t>- Australian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Business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15568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China team operates marketplace accounts.</a:t>
            </a:r>
          </a:p>
          <a:p>
            <a:pPr>
              <a:defRPr sz="1800"/>
            </a:pPr>
            <a:r>
              <a:t>2. Australian customers place orders.</a:t>
            </a:r>
          </a:p>
          <a:p>
            <a:pPr>
              <a:defRPr sz="1800"/>
            </a:pPr>
            <a:r>
              <a:t>3. Australia Pty Ltd receives marketplace settlement.</a:t>
            </a:r>
          </a:p>
          <a:p>
            <a:pPr>
              <a:defRPr sz="1800"/>
            </a:pPr>
            <a:r>
              <a:t>4. Warehouse picks, packs and dispatches.</a:t>
            </a:r>
          </a:p>
          <a:p>
            <a:pPr>
              <a:defRPr sz="1800"/>
            </a:pPr>
            <a:r>
              <a:t>5. Returns handled in Australia.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Training Flow:</a:t>
            </a:r>
          </a:p>
          <a:p>
            <a:pPr>
              <a:defRPr sz="1800"/>
            </a:pPr>
            <a:r>
              <a:t>Recruit -&gt; Train -&gt; Student opens own overseas store -&gt; Student operates independently.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Governance &amp;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15568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China: Execute operations, listing, advertising, customer service, pricing proposal.</a:t>
            </a:r>
          </a:p>
          <a:p>
            <a:pPr>
              <a:defRPr sz="1800"/>
            </a:pPr>
            <a:r>
              <a:t>Australia: Final approval for compliance, pricing floor, finance, GST, legal responsibility, inventory, dispatch.</a:t>
            </a:r>
          </a:p>
          <a:p>
            <a:pPr>
              <a:defRPr sz="1800"/>
            </a:pPr>
            <a:r>
              <a:t>Principle: China Operates | Australia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Money Flow &amp; Tax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15568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Product sales revenue -&gt; Australia Pty Ltd.</a:t>
            </a:r>
          </a:p>
          <a:p>
            <a:pPr>
              <a:defRPr sz="1800"/>
            </a:pPr>
            <a:r>
              <a:t>Training fees -&gt; China Company.</a:t>
            </a:r>
          </a:p>
          <a:p>
            <a:pPr>
              <a:defRPr sz="1800"/>
            </a:pPr>
            <a:r>
              <a:t>China may charge an operations service fee to Australia Pty Ltd under a service agreement.</a:t>
            </a:r>
          </a:p>
          <a:p>
            <a:pPr>
              <a:defRPr sz="1800"/>
            </a:pPr>
            <a:r>
              <a:t>Inventory, GST, warehouse costs and marketplace settlements remain in Australia.</a:t>
            </a:r>
          </a:p>
          <a:p>
            <a:pPr>
              <a:defRPr sz="1800"/>
            </a:pPr>
            <a:r>
              <a:t>Future related-party transactions should follow transfer pricing principles.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Key Risk Control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155680" cy="5669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1. Marketplace account authority</a:t>
            </a:r>
          </a:p>
          <a:p>
            <a:pPr>
              <a:defRPr sz="1800"/>
            </a:pPr>
            <a:r>
              <a:t>2. Product compliance</a:t>
            </a:r>
          </a:p>
          <a:p>
            <a:pPr>
              <a:defRPr sz="1800"/>
            </a:pPr>
            <a:r>
              <a:t>3. Pricing approval &amp; margin control</a:t>
            </a:r>
          </a:p>
          <a:p>
            <a:pPr>
              <a:defRPr sz="1800"/>
            </a:pPr>
            <a:r>
              <a:t>4. Inventory synchronisation</a:t>
            </a:r>
          </a:p>
          <a:p>
            <a:pPr>
              <a:defRPr sz="1800"/>
            </a:pPr>
            <a:r>
              <a:t>5. Dispatch accuracy</a:t>
            </a:r>
          </a:p>
          <a:p>
            <a:pPr>
              <a:defRPr sz="1800"/>
            </a:pPr>
            <a:r>
              <a:t>6. Marketplace settlement reconciliation</a:t>
            </a:r>
          </a:p>
          <a:p>
            <a:pPr>
              <a:defRPr sz="1800"/>
            </a:pPr>
            <a:r>
              <a:t>7. Training contracts and fee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